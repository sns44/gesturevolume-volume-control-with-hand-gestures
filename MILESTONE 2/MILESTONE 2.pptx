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</p:sldMasterIdLst>
  <p:notesMasterIdLst>
    <p:notesMasterId r:id="rId12"/>
  </p:notesMasterIdLst>
  <p:sldIdLst>
    <p:sldId id="256" r:id="rId2"/>
    <p:sldId id="260" r:id="rId3"/>
    <p:sldId id="257" r:id="rId4"/>
    <p:sldId id="259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6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A20FA-C779-4B3F-B9FA-6C15C8487742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DB32D-4AB5-41B7-A754-6B3AF5E4D3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3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DB32D-4AB5-41B7-A754-6B3AF5E4D3E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394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708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19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16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400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79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56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89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184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284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845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08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BD1CA02-D4A0-4BA5-8C83-4BC5E7775541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965D451-7836-4443-B1F7-1B22B518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993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D7A315-58F6-9492-9A09-4F367BF5F7E1}"/>
              </a:ext>
            </a:extLst>
          </p:cNvPr>
          <p:cNvSpPr/>
          <p:nvPr/>
        </p:nvSpPr>
        <p:spPr>
          <a:xfrm>
            <a:off x="251210" y="374860"/>
            <a:ext cx="10590963" cy="397914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B7C2B6-766B-B602-05F5-0CB513AC7330}"/>
              </a:ext>
            </a:extLst>
          </p:cNvPr>
          <p:cNvSpPr/>
          <p:nvPr/>
        </p:nvSpPr>
        <p:spPr>
          <a:xfrm>
            <a:off x="-1075969" y="515537"/>
            <a:ext cx="10323619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Gesture Recognition</a:t>
            </a: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And </a:t>
            </a: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                 Distance          </a:t>
            </a: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                          Measurement   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50360-687A-B493-6BCA-29561BA9A2F4}"/>
              </a:ext>
            </a:extLst>
          </p:cNvPr>
          <p:cNvSpPr txBox="1"/>
          <p:nvPr/>
        </p:nvSpPr>
        <p:spPr>
          <a:xfrm>
            <a:off x="6319349" y="4494684"/>
            <a:ext cx="42213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Book Antiqua" panose="02040602050305030304" pitchFamily="18" charset="0"/>
              </a:rPr>
              <a:t>Milestone 2</a:t>
            </a:r>
          </a:p>
          <a:p>
            <a:pPr algn="ctr"/>
            <a:r>
              <a:rPr lang="en-IN" sz="2500" b="1" dirty="0">
                <a:latin typeface="Book Antiqua" panose="02040602050305030304" pitchFamily="18" charset="0"/>
              </a:rPr>
              <a:t>             BY: SHREYAS S 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366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77A873-AD9D-058A-CFFD-2A4354C5F347}"/>
              </a:ext>
            </a:extLst>
          </p:cNvPr>
          <p:cNvSpPr/>
          <p:nvPr/>
        </p:nvSpPr>
        <p:spPr>
          <a:xfrm>
            <a:off x="258418" y="1818860"/>
            <a:ext cx="5536094" cy="275313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65000"/>
                  <a:lumOff val="3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lumOff val="3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  <a:latin typeface="Book Antiqua" panose="02040602050305030304" pitchFamily="18" charset="0"/>
              </a:rPr>
              <a:t>Tools and Technologies Used:</a:t>
            </a:r>
          </a:p>
          <a:p>
            <a:r>
              <a:rPr lang="en-IN" dirty="0">
                <a:latin typeface="Book Antiqua" panose="02040602050305030304" pitchFamily="18" charset="0"/>
              </a:rPr>
              <a:t> Core Technologies</a:t>
            </a:r>
          </a:p>
          <a:p>
            <a:r>
              <a:rPr lang="en-IN" dirty="0" err="1">
                <a:latin typeface="Book Antiqua" panose="02040602050305030304" pitchFamily="18" charset="0"/>
              </a:rPr>
              <a:t>MediaPipe</a:t>
            </a:r>
            <a:r>
              <a:rPr lang="en-IN" dirty="0">
                <a:latin typeface="Book Antiqua" panose="02040602050305030304" pitchFamily="18" charset="0"/>
              </a:rPr>
              <a:t> – </a:t>
            </a:r>
            <a:r>
              <a:rPr lang="en-IN" dirty="0">
                <a:solidFill>
                  <a:schemeClr val="tx1"/>
                </a:solidFill>
                <a:latin typeface="Book Antiqua" panose="02040602050305030304" pitchFamily="18" charset="0"/>
              </a:rPr>
              <a:t>Framework for accurate hand landmark detection</a:t>
            </a:r>
          </a:p>
          <a:p>
            <a:r>
              <a:rPr lang="en-IN" dirty="0">
                <a:latin typeface="Book Antiqua" panose="02040602050305030304" pitchFamily="18" charset="0"/>
              </a:rPr>
              <a:t>OpenCV – </a:t>
            </a:r>
            <a:r>
              <a:rPr lang="en-IN" dirty="0">
                <a:solidFill>
                  <a:schemeClr val="tx1"/>
                </a:solidFill>
                <a:latin typeface="Book Antiqua" panose="02040602050305030304" pitchFamily="18" charset="0"/>
              </a:rPr>
              <a:t>Handles camera input and real-time video processing</a:t>
            </a:r>
          </a:p>
          <a:p>
            <a:r>
              <a:rPr lang="en-IN" dirty="0">
                <a:latin typeface="Book Antiqua" panose="02040602050305030304" pitchFamily="18" charset="0"/>
              </a:rPr>
              <a:t>NumPy – </a:t>
            </a:r>
            <a:r>
              <a:rPr lang="en-IN" dirty="0">
                <a:solidFill>
                  <a:schemeClr val="tx1"/>
                </a:solidFill>
                <a:latin typeface="Book Antiqua" panose="02040602050305030304" pitchFamily="18" charset="0"/>
              </a:rPr>
              <a:t>Performs mathematical computations</a:t>
            </a:r>
          </a:p>
          <a:p>
            <a:r>
              <a:rPr lang="en-IN" dirty="0">
                <a:latin typeface="Book Antiqua" panose="02040602050305030304" pitchFamily="18" charset="0"/>
              </a:rPr>
              <a:t>Pandas – </a:t>
            </a:r>
            <a:r>
              <a:rPr lang="en-IN" dirty="0">
                <a:solidFill>
                  <a:schemeClr val="tx1"/>
                </a:solidFill>
                <a:latin typeface="Book Antiqua" panose="02040602050305030304" pitchFamily="18" charset="0"/>
              </a:rPr>
              <a:t>Manages landmark data efficiently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3BEF7-7494-73A0-E98C-86A7A045BF21}"/>
              </a:ext>
            </a:extLst>
          </p:cNvPr>
          <p:cNvSpPr/>
          <p:nvPr/>
        </p:nvSpPr>
        <p:spPr>
          <a:xfrm>
            <a:off x="747831" y="472613"/>
            <a:ext cx="107815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Gesture Recognition And Distance Measurement   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469C30-6983-3F12-B184-44D8603F9292}"/>
              </a:ext>
            </a:extLst>
          </p:cNvPr>
          <p:cNvSpPr/>
          <p:nvPr/>
        </p:nvSpPr>
        <p:spPr>
          <a:xfrm>
            <a:off x="6370982" y="1818860"/>
            <a:ext cx="5377069" cy="275313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65000"/>
                  <a:lumOff val="3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lumOff val="3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0000"/>
                </a:solidFill>
              </a:rPr>
              <a:t>Development Environment:</a:t>
            </a:r>
          </a:p>
          <a:p>
            <a:r>
              <a:rPr lang="en-US" dirty="0" err="1">
                <a:solidFill>
                  <a:schemeClr val="bg1"/>
                </a:solidFill>
                <a:latin typeface="Book Antiqua" panose="02040602050305030304" pitchFamily="18" charset="0"/>
              </a:rPr>
              <a:t>JupyterNotebook</a:t>
            </a:r>
            <a:r>
              <a:rPr lang="en-US" dirty="0">
                <a:latin typeface="Book Antiqua" panose="02040602050305030304" pitchFamily="18" charset="0"/>
              </a:rPr>
              <a:t> – For step-by-step code execution and testing</a:t>
            </a:r>
          </a:p>
          <a:p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Anaconda</a:t>
            </a:r>
            <a:r>
              <a:rPr lang="en-US" dirty="0">
                <a:latin typeface="Book Antiqua" panose="02040602050305030304" pitchFamily="18" charset="0"/>
              </a:rPr>
              <a:t> – Environment manager for smooth package handling and setup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169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36FB0C1-3051-AA02-BB94-41A7EBE63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067" y="710144"/>
            <a:ext cx="6849431" cy="55713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75B0DD-23FD-80A1-51B8-1BC7B3FBC409}"/>
              </a:ext>
            </a:extLst>
          </p:cNvPr>
          <p:cNvSpPr/>
          <p:nvPr/>
        </p:nvSpPr>
        <p:spPr>
          <a:xfrm>
            <a:off x="0" y="124744"/>
            <a:ext cx="82086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800" dirty="0">
                <a:ln>
                  <a:solidFill>
                    <a:schemeClr val="bg1"/>
                  </a:solidFill>
                </a:ln>
              </a:rPr>
              <a:t>CODE: Gesture Recognition &amp; Distance Measurement 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21" name="Picture 2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D1E9FF0-F97A-530B-CD10-8CF4EC9F4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02" y="710144"/>
            <a:ext cx="5576721" cy="557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72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04D77F5-0A8B-F028-9730-47E9776AC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754" y="487017"/>
            <a:ext cx="5398872" cy="4742587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253ECF5-9004-8DEB-E074-AB4EDE87F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91" y="487017"/>
            <a:ext cx="4589465" cy="36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40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696135-90F9-8D6D-37C5-6282F31D7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92" y="1001296"/>
            <a:ext cx="5552662" cy="5278257"/>
          </a:xfrm>
          <a:prstGeom prst="rect">
            <a:avLst/>
          </a:prstGeom>
        </p:spPr>
      </p:pic>
      <p:pic>
        <p:nvPicPr>
          <p:cNvPr id="11" name="Picture 10" descr="A screenshot of a hand with a diagram&#10;&#10;AI-generated content may be incorrect.">
            <a:extLst>
              <a:ext uri="{FF2B5EF4-FFF2-40B4-BE49-F238E27FC236}">
                <a16:creationId xmlns:a16="http://schemas.microsoft.com/office/drawing/2014/main" id="{5CDAF073-EDA7-4C18-97D4-59EE2C381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178" y="1001296"/>
            <a:ext cx="5182378" cy="548376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E9F7F66-313D-0235-D5A3-CE24B56A29B4}"/>
              </a:ext>
            </a:extLst>
          </p:cNvPr>
          <p:cNvSpPr/>
          <p:nvPr/>
        </p:nvSpPr>
        <p:spPr>
          <a:xfrm>
            <a:off x="14319" y="77966"/>
            <a:ext cx="39934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OUTPUTS </a:t>
            </a:r>
          </a:p>
        </p:txBody>
      </p:sp>
    </p:spTree>
    <p:extLst>
      <p:ext uri="{BB962C8B-B14F-4D97-AF65-F5344CB8AC3E}">
        <p14:creationId xmlns:p14="http://schemas.microsoft.com/office/powerpoint/2010/main" val="984196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BE407C-9310-8D04-3BE8-C05A8EBC3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03" y="826660"/>
            <a:ext cx="4104818" cy="5375357"/>
          </a:xfrm>
          <a:prstGeom prst="rect">
            <a:avLst/>
          </a:prstGeom>
        </p:spPr>
      </p:pic>
      <p:pic>
        <p:nvPicPr>
          <p:cNvPr id="9" name="Picture 8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1628F8C-A4C6-6B44-1AF1-6BF6A07E3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000" y="934279"/>
            <a:ext cx="6302254" cy="455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74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C2C82D-A6DC-7E6D-8A50-EC7BD0AC1D74}"/>
              </a:ext>
            </a:extLst>
          </p:cNvPr>
          <p:cNvSpPr/>
          <p:nvPr/>
        </p:nvSpPr>
        <p:spPr>
          <a:xfrm>
            <a:off x="161256" y="234074"/>
            <a:ext cx="1019971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>
                  <a:solidFill>
                    <a:schemeClr val="bg1"/>
                  </a:solidFill>
                </a:ln>
              </a:rPr>
              <a:t>Frontend: </a:t>
            </a:r>
            <a:r>
              <a:rPr lang="en-US" sz="3600" dirty="0" err="1">
                <a:ln>
                  <a:solidFill>
                    <a:schemeClr val="bg1"/>
                  </a:solidFill>
                </a:ln>
              </a:rPr>
              <a:t>Streamlit</a:t>
            </a:r>
            <a:r>
              <a:rPr lang="en-US" sz="3600" dirty="0">
                <a:ln>
                  <a:solidFill>
                    <a:schemeClr val="bg1"/>
                  </a:solidFill>
                </a:ln>
              </a:rPr>
              <a:t> Interface for Gesture Recognition</a:t>
            </a:r>
            <a:endParaRPr lang="en-US" sz="36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6BE016-CF0E-B16E-4D85-24EF0864A58C}"/>
              </a:ext>
            </a:extLst>
          </p:cNvPr>
          <p:cNvSpPr/>
          <p:nvPr/>
        </p:nvSpPr>
        <p:spPr>
          <a:xfrm>
            <a:off x="89452" y="954157"/>
            <a:ext cx="5317435" cy="573905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Purpose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create a simple and interactive web-based UI for the Gesture Recognition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users to start or stop the camera, view real-time gesture detection, and display calculated distances</a:t>
            </a:r>
          </a:p>
          <a:p>
            <a:r>
              <a:rPr lang="en-US" dirty="0">
                <a:solidFill>
                  <a:srgbClr val="FF0000"/>
                </a:solidFill>
              </a:rPr>
              <a:t>Key Features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using </a:t>
            </a:r>
            <a:r>
              <a:rPr lang="en-US" dirty="0" err="1"/>
              <a:t>Streamlit</a:t>
            </a:r>
            <a:r>
              <a:rPr lang="en-US" dirty="0"/>
              <a:t> , a Python-based web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Start/Stop Camera Buttons – Enables live control of webcam feed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Live Distance Display – Continuously shows thumb–index fingertip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Gesture Status – Shows “Pinch” or “Open Hand” based on detected gesture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Adjustable Controls –</a:t>
            </a:r>
          </a:p>
          <a:p>
            <a:pPr lvl="1"/>
            <a:r>
              <a:rPr lang="en-US" dirty="0"/>
              <a:t>Minimum detection confidence slider</a:t>
            </a:r>
          </a:p>
          <a:p>
            <a:pPr lvl="1"/>
            <a:r>
              <a:rPr lang="en-US" dirty="0"/>
              <a:t>Pinch distance threshold selector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8E0BC2-F7E8-D5CF-9660-394C7022D6EA}"/>
              </a:ext>
            </a:extLst>
          </p:cNvPr>
          <p:cNvSpPr/>
          <p:nvPr/>
        </p:nvSpPr>
        <p:spPr>
          <a:xfrm>
            <a:off x="6785115" y="954155"/>
            <a:ext cx="5148470" cy="566976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</a:rPr>
              <a:t> Working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clicks “Start Camera” → </a:t>
            </a:r>
            <a:r>
              <a:rPr lang="en-IN" dirty="0" err="1"/>
              <a:t>Streamlit</a:t>
            </a:r>
            <a:r>
              <a:rPr lang="en-IN" dirty="0"/>
              <a:t> activates webcam using OpenCV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Frame sent to </a:t>
            </a:r>
            <a:r>
              <a:rPr lang="en-IN" dirty="0" err="1"/>
              <a:t>MediaPipe</a:t>
            </a:r>
            <a:r>
              <a:rPr lang="en-IN" dirty="0"/>
              <a:t> model → Detects hand landmarks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Distance calculated → Displayed dynamically on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Annotations shown live → Visual line between thumb &amp; index finger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clicks “Stop Camera” → Safely closes video stream</a:t>
            </a:r>
          </a:p>
        </p:txBody>
      </p:sp>
    </p:spTree>
    <p:extLst>
      <p:ext uri="{BB962C8B-B14F-4D97-AF65-F5344CB8AC3E}">
        <p14:creationId xmlns:p14="http://schemas.microsoft.com/office/powerpoint/2010/main" val="93996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EEF27-4903-9631-D2B3-B2755B7B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5ED419EE-7FB5-EA1A-D743-0AB218EE0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784" y="1496905"/>
            <a:ext cx="8636430" cy="401158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0690449-6093-A557-E7FC-95AF50F1F0DD}"/>
              </a:ext>
            </a:extLst>
          </p:cNvPr>
          <p:cNvSpPr/>
          <p:nvPr/>
        </p:nvSpPr>
        <p:spPr>
          <a:xfrm>
            <a:off x="4404671" y="515537"/>
            <a:ext cx="33826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86522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F740D4-8E76-7DB2-3899-0CD6E01941C4}"/>
              </a:ext>
            </a:extLst>
          </p:cNvPr>
          <p:cNvSpPr/>
          <p:nvPr/>
        </p:nvSpPr>
        <p:spPr>
          <a:xfrm>
            <a:off x="180870" y="1487156"/>
            <a:ext cx="11830260" cy="33862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0" name="Picture 9" descr="A hand with a pointy hand drawn on it&#10;&#10;AI-generated content may be incorrect.">
            <a:extLst>
              <a:ext uri="{FF2B5EF4-FFF2-40B4-BE49-F238E27FC236}">
                <a16:creationId xmlns:a16="http://schemas.microsoft.com/office/drawing/2014/main" id="{26DA1599-A375-9D16-BAC9-0048F7A31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708" y="1591469"/>
            <a:ext cx="6876422" cy="3129217"/>
          </a:xfrm>
          <a:prstGeom prst="rect">
            <a:avLst/>
          </a:prstGeom>
        </p:spPr>
      </p:pic>
      <p:pic>
        <p:nvPicPr>
          <p:cNvPr id="12" name="Picture 11" descr="A hand with a pointy hand&#10;&#10;AI-generated content may be incorrect.">
            <a:extLst>
              <a:ext uri="{FF2B5EF4-FFF2-40B4-BE49-F238E27FC236}">
                <a16:creationId xmlns:a16="http://schemas.microsoft.com/office/drawing/2014/main" id="{615E7FF5-7377-8627-8A85-006D6ECAA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70" y="1591469"/>
            <a:ext cx="6079253" cy="312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62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C5CA87-0F7F-D34D-2BB9-83F8EEC53165}"/>
              </a:ext>
            </a:extLst>
          </p:cNvPr>
          <p:cNvSpPr/>
          <p:nvPr/>
        </p:nvSpPr>
        <p:spPr>
          <a:xfrm>
            <a:off x="614566" y="636104"/>
            <a:ext cx="10962861" cy="5585791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62FEC-A9EE-E40B-2DF3-91C37CF1F46D}"/>
              </a:ext>
            </a:extLst>
          </p:cNvPr>
          <p:cNvSpPr/>
          <p:nvPr/>
        </p:nvSpPr>
        <p:spPr>
          <a:xfrm>
            <a:off x="3926781" y="2967335"/>
            <a:ext cx="4338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 !!!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9692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67</TotalTime>
  <Words>245</Words>
  <Application>Microsoft Office PowerPoint</Application>
  <PresentationFormat>Widescreen</PresentationFormat>
  <Paragraphs>39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Shreyas S n</dc:creator>
  <cp:lastModifiedBy>Shreyas S n</cp:lastModifiedBy>
  <cp:revision>2</cp:revision>
  <dcterms:created xsi:type="dcterms:W3CDTF">2025-11-07T09:03:26Z</dcterms:created>
  <dcterms:modified xsi:type="dcterms:W3CDTF">2025-11-08T06:51:33Z</dcterms:modified>
</cp:coreProperties>
</file>