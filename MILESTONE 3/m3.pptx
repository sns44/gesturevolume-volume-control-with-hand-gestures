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1" r:id="rId9"/>
    <p:sldId id="260" r:id="rId1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Darker Grotesque Medium" panose="020B0604020202020204" charset="0"/>
      <p:regular r:id="rId17"/>
      <p:bold r:id="rId18"/>
    </p:embeddedFont>
    <p:embeddedFont>
      <p:font typeface="Jokerman" panose="04090605060D06020702" pitchFamily="82" charset="0"/>
      <p:regular r:id="rId19"/>
    </p:embeddedFont>
    <p:embeddedFont>
      <p:font typeface="Maiandra GD" panose="020E0502030308020204" pitchFamily="34" charset="0"/>
      <p:regular r:id="rId20"/>
    </p:embeddedFont>
    <p:embeddedFont>
      <p:font typeface="Malgun Gothic Semilight" panose="020B0502040204020203" pitchFamily="34" charset="-128"/>
      <p:regular r:id="rId21"/>
    </p:embeddedFont>
    <p:embeddedFont>
      <p:font typeface="Matura MT Script Capitals" panose="03020802060602070202" pitchFamily="66" charset="0"/>
      <p:regular r:id="rId22"/>
    </p:embeddedFont>
    <p:embeddedFont>
      <p:font typeface="Roboto Condensed Light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D7D44-ACB9-4095-BD9D-DBAC15292E7A}" v="163" dt="2025-11-24T14:35:42.742"/>
  </p1510:revLst>
</p1510:revInfo>
</file>

<file path=ppt/tableStyles.xml><?xml version="1.0" encoding="utf-8"?>
<a:tblStyleLst xmlns:a="http://schemas.openxmlformats.org/drawingml/2006/main" def="{42A10EB8-FC29-4BA0-96EE-FB36B1E12264}">
  <a:tblStyle styleId="{42A10EB8-FC29-4BA0-96EE-FB36B1E122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6" name="Google Shape;2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a99c09f7d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a99c09f7d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a99c09f7d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9" name="Google Shape;299;ga99c09f7d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320500" y="1153000"/>
            <a:ext cx="45030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entury Gothic"/>
              <a:buNone/>
              <a:defRPr sz="72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76500" y="3456100"/>
            <a:ext cx="47910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entury Gothic"/>
              <a:buAutoNum type="arabicPeriod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 sz="1600"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 sz="1600"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1543370" y="137080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title" idx="2" hasCustomPrompt="1"/>
          </p:nvPr>
        </p:nvSpPr>
        <p:spPr>
          <a:xfrm>
            <a:off x="884000" y="147057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7"/>
          <p:cNvSpPr txBox="1">
            <a:spLocks noGrp="1"/>
          </p:cNvSpPr>
          <p:nvPr>
            <p:ph type="subTitle" idx="1"/>
          </p:nvPr>
        </p:nvSpPr>
        <p:spPr>
          <a:xfrm>
            <a:off x="1543386" y="180492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title" idx="3"/>
          </p:nvPr>
        </p:nvSpPr>
        <p:spPr>
          <a:xfrm>
            <a:off x="5537187" y="137080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title" idx="4" hasCustomPrompt="1"/>
          </p:nvPr>
        </p:nvSpPr>
        <p:spPr>
          <a:xfrm>
            <a:off x="4877826" y="147057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7"/>
          <p:cNvSpPr txBox="1">
            <a:spLocks noGrp="1"/>
          </p:cNvSpPr>
          <p:nvPr>
            <p:ph type="subTitle" idx="5"/>
          </p:nvPr>
        </p:nvSpPr>
        <p:spPr>
          <a:xfrm>
            <a:off x="5537203" y="180492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 idx="6"/>
          </p:nvPr>
        </p:nvSpPr>
        <p:spPr>
          <a:xfrm>
            <a:off x="1543370" y="286915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title" idx="7" hasCustomPrompt="1"/>
          </p:nvPr>
        </p:nvSpPr>
        <p:spPr>
          <a:xfrm>
            <a:off x="884000" y="296892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7"/>
          <p:cNvSpPr txBox="1">
            <a:spLocks noGrp="1"/>
          </p:cNvSpPr>
          <p:nvPr>
            <p:ph type="subTitle" idx="8"/>
          </p:nvPr>
        </p:nvSpPr>
        <p:spPr>
          <a:xfrm>
            <a:off x="1543386" y="330327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title" idx="9"/>
          </p:nvPr>
        </p:nvSpPr>
        <p:spPr>
          <a:xfrm>
            <a:off x="5537187" y="286915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13" hasCustomPrompt="1"/>
          </p:nvPr>
        </p:nvSpPr>
        <p:spPr>
          <a:xfrm>
            <a:off x="4877826" y="296892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7"/>
          <p:cNvSpPr txBox="1">
            <a:spLocks noGrp="1"/>
          </p:cNvSpPr>
          <p:nvPr>
            <p:ph type="subTitle" idx="14"/>
          </p:nvPr>
        </p:nvSpPr>
        <p:spPr>
          <a:xfrm>
            <a:off x="5537203" y="330327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title" idx="15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2726700" y="352952"/>
            <a:ext cx="36906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2679000" y="1251950"/>
            <a:ext cx="3786000" cy="29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entury Gothic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 sz="1600"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 sz="1600"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●"/>
              <a:defRPr sz="18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3" r:id="rId4"/>
    <p:sldLayoutId id="2147483686" r:id="rId5"/>
    <p:sldLayoutId id="2147483702" r:id="rId6"/>
    <p:sldLayoutId id="2147483703" r:id="rId7"/>
    <p:sldLayoutId id="214748370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4"/>
          <p:cNvSpPr/>
          <p:nvPr/>
        </p:nvSpPr>
        <p:spPr>
          <a:xfrm>
            <a:off x="2181750" y="2933330"/>
            <a:ext cx="5113800" cy="503400"/>
          </a:xfrm>
          <a:prstGeom prst="roundRect">
            <a:avLst>
              <a:gd name="adj" fmla="val 16667"/>
            </a:avLst>
          </a:prstGeom>
          <a:solidFill>
            <a:srgbClr val="FFFFFF">
              <a:alpha val="245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64"/>
          <p:cNvSpPr txBox="1">
            <a:spLocks noGrp="1"/>
          </p:cNvSpPr>
          <p:nvPr>
            <p:ph type="ctrTitle"/>
          </p:nvPr>
        </p:nvSpPr>
        <p:spPr>
          <a:xfrm>
            <a:off x="2015100" y="0"/>
            <a:ext cx="5280450" cy="29099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>
                <a:latin typeface="Jokerman" panose="04090605060D06020702" pitchFamily="82" charset="0"/>
              </a:rPr>
              <a:t>Controlling Volume with Hand Gestures </a:t>
            </a:r>
            <a:endParaRPr sz="3200" dirty="0">
              <a:latin typeface="Jokerman" panose="04090605060D06020702" pitchFamily="82" charset="0"/>
            </a:endParaRPr>
          </a:p>
        </p:txBody>
      </p:sp>
      <p:sp>
        <p:nvSpPr>
          <p:cNvPr id="290" name="Google Shape;290;p64"/>
          <p:cNvSpPr txBox="1">
            <a:spLocks noGrp="1"/>
          </p:cNvSpPr>
          <p:nvPr>
            <p:ph type="subTitle" idx="1"/>
          </p:nvPr>
        </p:nvSpPr>
        <p:spPr>
          <a:xfrm>
            <a:off x="2259825" y="2992580"/>
            <a:ext cx="47910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SHREYAS S 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5"/>
          <p:cNvSpPr txBox="1">
            <a:spLocks noGrp="1"/>
          </p:cNvSpPr>
          <p:nvPr>
            <p:ph type="title"/>
          </p:nvPr>
        </p:nvSpPr>
        <p:spPr>
          <a:xfrm>
            <a:off x="720000" y="352700"/>
            <a:ext cx="7704000" cy="1373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Milestone 3</a:t>
            </a:r>
            <a:br>
              <a:rPr lang="en-US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</a:br>
            <a:r>
              <a:rPr lang="en-US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Module: Volume Mapping and Control Module</a:t>
            </a:r>
            <a:endParaRPr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296" name="Google Shape;296;p65"/>
          <p:cNvSpPr txBox="1">
            <a:spLocks noGrp="1"/>
          </p:cNvSpPr>
          <p:nvPr>
            <p:ph type="body" idx="1"/>
          </p:nvPr>
        </p:nvSpPr>
        <p:spPr>
          <a:xfrm>
            <a:off x="845730" y="2092406"/>
            <a:ext cx="7704000" cy="479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b="1" dirty="0"/>
              <a:t>Primary Goal:</a:t>
            </a:r>
            <a:r>
              <a:rPr lang="en-US" dirty="0"/>
              <a:t> To develop a utility that controls system volume programmatically without opening Windows settings.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6"/>
          <p:cNvSpPr txBox="1">
            <a:spLocks noGrp="1"/>
          </p:cNvSpPr>
          <p:nvPr>
            <p:ph type="title"/>
          </p:nvPr>
        </p:nvSpPr>
        <p:spPr>
          <a:xfrm>
            <a:off x="1543370" y="137080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/>
              <a:t>pycaw</a:t>
            </a:r>
            <a:endParaRPr dirty="0"/>
          </a:p>
        </p:txBody>
      </p:sp>
      <p:sp>
        <p:nvSpPr>
          <p:cNvPr id="302" name="Google Shape;302;p66"/>
          <p:cNvSpPr txBox="1">
            <a:spLocks noGrp="1"/>
          </p:cNvSpPr>
          <p:nvPr>
            <p:ph type="title" idx="2"/>
          </p:nvPr>
        </p:nvSpPr>
        <p:spPr>
          <a:xfrm>
            <a:off x="884000" y="147057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04" name="Google Shape;304;p66"/>
          <p:cNvSpPr txBox="1">
            <a:spLocks noGrp="1"/>
          </p:cNvSpPr>
          <p:nvPr>
            <p:ph type="title" idx="3"/>
          </p:nvPr>
        </p:nvSpPr>
        <p:spPr>
          <a:xfrm>
            <a:off x="6048532" y="1370589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/>
              <a:t>comtypes</a:t>
            </a:r>
            <a:endParaRPr dirty="0"/>
          </a:p>
        </p:txBody>
      </p:sp>
      <p:sp>
        <p:nvSpPr>
          <p:cNvPr id="305" name="Google Shape;305;p66"/>
          <p:cNvSpPr txBox="1">
            <a:spLocks noGrp="1"/>
          </p:cNvSpPr>
          <p:nvPr>
            <p:ph type="title" idx="4"/>
          </p:nvPr>
        </p:nvSpPr>
        <p:spPr>
          <a:xfrm>
            <a:off x="5389132" y="1415488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07" name="Google Shape;307;p66"/>
          <p:cNvSpPr txBox="1">
            <a:spLocks noGrp="1"/>
          </p:cNvSpPr>
          <p:nvPr>
            <p:ph type="title" idx="6"/>
          </p:nvPr>
        </p:nvSpPr>
        <p:spPr>
          <a:xfrm>
            <a:off x="1503226" y="3084405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/>
              <a:t>Customtkinter</a:t>
            </a:r>
            <a:endParaRPr dirty="0"/>
          </a:p>
        </p:txBody>
      </p:sp>
      <p:sp>
        <p:nvSpPr>
          <p:cNvPr id="308" name="Google Shape;308;p66"/>
          <p:cNvSpPr txBox="1">
            <a:spLocks noGrp="1"/>
          </p:cNvSpPr>
          <p:nvPr>
            <p:ph type="title" idx="7"/>
          </p:nvPr>
        </p:nvSpPr>
        <p:spPr>
          <a:xfrm>
            <a:off x="896002" y="3100150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09" name="Google Shape;309;p66"/>
          <p:cNvSpPr txBox="1">
            <a:spLocks noGrp="1"/>
          </p:cNvSpPr>
          <p:nvPr>
            <p:ph type="subTitle" idx="8"/>
          </p:nvPr>
        </p:nvSpPr>
        <p:spPr>
          <a:xfrm>
            <a:off x="1543370" y="3441866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Responsible for rendering the volume slider, status buttons, and the main dashboard window.</a:t>
            </a:r>
            <a:endParaRPr dirty="0"/>
          </a:p>
        </p:txBody>
      </p:sp>
      <p:sp>
        <p:nvSpPr>
          <p:cNvPr id="311" name="Google Shape;311;p66"/>
          <p:cNvSpPr txBox="1">
            <a:spLocks noGrp="1"/>
          </p:cNvSpPr>
          <p:nvPr>
            <p:ph type="title" idx="13"/>
          </p:nvPr>
        </p:nvSpPr>
        <p:spPr>
          <a:xfrm>
            <a:off x="5389132" y="290606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312" name="Google Shape;312;p66"/>
          <p:cNvSpPr txBox="1">
            <a:spLocks noGrp="1"/>
          </p:cNvSpPr>
          <p:nvPr>
            <p:ph type="subTitle" idx="14"/>
          </p:nvPr>
        </p:nvSpPr>
        <p:spPr>
          <a:xfrm>
            <a:off x="6093594" y="1827888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Acts as the bridge between our Python script and the Windows OS.</a:t>
            </a:r>
            <a:endParaRPr dirty="0"/>
          </a:p>
        </p:txBody>
      </p:sp>
      <p:sp>
        <p:nvSpPr>
          <p:cNvPr id="313" name="Google Shape;313;p66"/>
          <p:cNvSpPr txBox="1">
            <a:spLocks noGrp="1"/>
          </p:cNvSpPr>
          <p:nvPr>
            <p:ph type="title" idx="15"/>
          </p:nvPr>
        </p:nvSpPr>
        <p:spPr>
          <a:xfrm>
            <a:off x="720000" y="2728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Technology Stack (The "Tools" Used)</a:t>
            </a:r>
            <a:endParaRPr sz="3000" dirty="0"/>
          </a:p>
        </p:txBody>
      </p:sp>
      <p:sp>
        <p:nvSpPr>
          <p:cNvPr id="314" name="Google Shape;314;p66"/>
          <p:cNvSpPr/>
          <p:nvPr/>
        </p:nvSpPr>
        <p:spPr>
          <a:xfrm>
            <a:off x="8424000" y="4570800"/>
            <a:ext cx="720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10;p66">
            <a:extLst>
              <a:ext uri="{FF2B5EF4-FFF2-40B4-BE49-F238E27FC236}">
                <a16:creationId xmlns:a16="http://schemas.microsoft.com/office/drawing/2014/main" id="{0F19CA9C-CB93-4674-ED72-3CAAD6396A5B}"/>
              </a:ext>
            </a:extLst>
          </p:cNvPr>
          <p:cNvSpPr txBox="1">
            <a:spLocks/>
          </p:cNvSpPr>
          <p:nvPr/>
        </p:nvSpPr>
        <p:spPr>
          <a:xfrm>
            <a:off x="6048532" y="2938915"/>
            <a:ext cx="2439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 dirty="0"/>
              <a:t>threading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7DA1E2-A9B9-EB08-A900-04EADA7F9488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1555402" y="1942705"/>
            <a:ext cx="27228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library used to interact directly with the Windows Audio Endpoint APIs.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F0E5C-C8A9-9EB4-42CF-5868EC06C4FC}"/>
              </a:ext>
            </a:extLst>
          </p:cNvPr>
          <p:cNvSpPr txBox="1"/>
          <p:nvPr/>
        </p:nvSpPr>
        <p:spPr>
          <a:xfrm>
            <a:off x="6093594" y="3373704"/>
            <a:ext cx="26904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to run the "Hotkey Listener" and "GUI" simultaneously.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/>
      <p:bldP spid="302" grpId="0"/>
      <p:bldP spid="304" grpId="0"/>
      <p:bldP spid="305" grpId="0"/>
      <p:bldP spid="307" grpId="0"/>
      <p:bldP spid="308" grpId="0"/>
      <p:bldP spid="309" grpId="0" build="p"/>
      <p:bldP spid="311" grpId="0"/>
      <p:bldP spid="312" grpId="0" build="p"/>
      <p:bldP spid="4" grpId="0"/>
      <p:bldP spid="7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77487E-6FBF-43B0-D1FF-0E2E3C2F2894}"/>
              </a:ext>
            </a:extLst>
          </p:cNvPr>
          <p:cNvSpPr/>
          <p:nvPr/>
        </p:nvSpPr>
        <p:spPr>
          <a:xfrm>
            <a:off x="1634490" y="792093"/>
            <a:ext cx="6069330" cy="344126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40D14-9102-6406-0D8A-2562F82A09ED}"/>
              </a:ext>
            </a:extLst>
          </p:cNvPr>
          <p:cNvSpPr txBox="1"/>
          <p:nvPr/>
        </p:nvSpPr>
        <p:spPr>
          <a:xfrm>
            <a:off x="1823085" y="171347"/>
            <a:ext cx="5497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Maiandra GD" panose="020E0502030308020204" pitchFamily="34" charset="0"/>
              </a:rPr>
              <a:t>Windows Core Audio Architecture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D26F39-CE37-391E-6C71-48998B4D608F}"/>
              </a:ext>
            </a:extLst>
          </p:cNvPr>
          <p:cNvSpPr txBox="1"/>
          <p:nvPr/>
        </p:nvSpPr>
        <p:spPr>
          <a:xfrm>
            <a:off x="1823085" y="1017478"/>
            <a:ext cx="5715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eRender (Value: 0)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the system constant used to identify </a:t>
            </a:r>
            <a:r>
              <a:rPr lang="en-US" b="1" dirty="0"/>
              <a:t>Audio Render Devices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use this to select and control </a:t>
            </a:r>
            <a:r>
              <a:rPr lang="en-US" b="1" dirty="0"/>
              <a:t>Speakers</a:t>
            </a:r>
            <a:r>
              <a:rPr lang="en-US" dirty="0"/>
              <a:t> or </a:t>
            </a:r>
            <a:r>
              <a:rPr lang="en-US" b="1" dirty="0"/>
              <a:t>Headphones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2. eCapture (Value: 1)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the system constant used to identify </a:t>
            </a:r>
            <a:r>
              <a:rPr lang="en-US" b="1" dirty="0"/>
              <a:t>Audio Capture Devices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use this to select and control the </a:t>
            </a:r>
            <a:r>
              <a:rPr lang="en-US" b="1" dirty="0"/>
              <a:t>Microphone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3. IMMDeviceEnumerator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acts as the "scanner" for your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lists all available audio hardware connected to your PC so the code can find them.</a:t>
            </a:r>
          </a:p>
          <a:p>
            <a:pPr>
              <a:buNone/>
            </a:pPr>
            <a:r>
              <a:rPr lang="en-US" b="1" dirty="0"/>
              <a:t>4. IAudioEndpointVolume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the specific interface ("The Knob").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the only interface that allows us to actually change volume levels or toggle mute.</a:t>
            </a:r>
          </a:p>
        </p:txBody>
      </p:sp>
    </p:spTree>
    <p:extLst>
      <p:ext uri="{BB962C8B-B14F-4D97-AF65-F5344CB8AC3E}">
        <p14:creationId xmlns:p14="http://schemas.microsoft.com/office/powerpoint/2010/main" val="362355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AAA255D-BA11-CC6F-E816-F030B33B6595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r>
              <a:rPr lang="en-IN" dirty="0"/>
              <a:t>Program part </a:t>
            </a:r>
          </a:p>
        </p:txBody>
      </p:sp>
      <p:pic>
        <p:nvPicPr>
          <p:cNvPr id="16" name="Picture 1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A13FA073-8E57-A0DA-71EA-2EBEF64A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75" y="925401"/>
            <a:ext cx="4529101" cy="377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9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26B816E-8998-5129-0980-122AB7B9C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90" y="274320"/>
            <a:ext cx="5176749" cy="411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69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C63F89A3-BC08-6F0F-93FC-A6E8DAF97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65" y="243622"/>
            <a:ext cx="5373670" cy="422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3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327E512-1FF1-BB33-7AF6-614014926EF3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r>
              <a:rPr lang="en-IN" dirty="0"/>
              <a:t>Ui simple design 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CBEF35-0516-88D4-BD37-D5FF59E5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4" y="990379"/>
            <a:ext cx="3991532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50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8E4DE55-0C9E-9CF7-454C-2A0A36936313}"/>
              </a:ext>
            </a:extLst>
          </p:cNvPr>
          <p:cNvSpPr txBox="1"/>
          <p:nvPr/>
        </p:nvSpPr>
        <p:spPr>
          <a:xfrm>
            <a:off x="1977390" y="1360587"/>
            <a:ext cx="64808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latin typeface="Matura MT Script Capitals" panose="03020802060602070202" pitchFamily="66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099511733"/>
      </p:ext>
    </p:extLst>
  </p:cSld>
  <p:clrMapOvr>
    <a:masterClrMapping/>
  </p:clrMapOvr>
</p:sld>
</file>

<file path=ppt/theme/theme1.xml><?xml version="1.0" encoding="utf-8"?>
<a:theme xmlns:a="http://schemas.openxmlformats.org/drawingml/2006/main" name="Mountain Backgrounds XL by Slidesgo">
  <a:themeElements>
    <a:clrScheme name="Simple Light">
      <a:dk1>
        <a:srgbClr val="2A072F"/>
      </a:dk1>
      <a:lt1>
        <a:srgbClr val="FFFFFF"/>
      </a:lt1>
      <a:dk2>
        <a:srgbClr val="301E4B"/>
      </a:dk2>
      <a:lt2>
        <a:srgbClr val="42234E"/>
      </a:lt2>
      <a:accent1>
        <a:srgbClr val="2A072F"/>
      </a:accent1>
      <a:accent2>
        <a:srgbClr val="AC5169"/>
      </a:accent2>
      <a:accent3>
        <a:srgbClr val="AF7172"/>
      </a:accent3>
      <a:accent4>
        <a:srgbClr val="FECEC5"/>
      </a:accent4>
      <a:accent5>
        <a:srgbClr val="FEB5BA"/>
      </a:accent5>
      <a:accent6>
        <a:srgbClr val="FE9EA2"/>
      </a:accent6>
      <a:hlink>
        <a:srgbClr val="2A072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242</Words>
  <Application>Microsoft Office PowerPoint</Application>
  <PresentationFormat>On-screen Show (16:9)</PresentationFormat>
  <Paragraphs>33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Matura MT Script Capitals</vt:lpstr>
      <vt:lpstr>Arial</vt:lpstr>
      <vt:lpstr>Maiandra GD</vt:lpstr>
      <vt:lpstr>Malgun Gothic Semilight</vt:lpstr>
      <vt:lpstr>Darker Grotesque Medium</vt:lpstr>
      <vt:lpstr>Bebas Neue</vt:lpstr>
      <vt:lpstr>Jokerman</vt:lpstr>
      <vt:lpstr>Century Gothic</vt:lpstr>
      <vt:lpstr>Roboto Condensed Light</vt:lpstr>
      <vt:lpstr>Mountain Backgrounds XL by Slidesgo</vt:lpstr>
      <vt:lpstr>Controlling Volume with Hand Gestures </vt:lpstr>
      <vt:lpstr>Milestone 3 Module: Volume Mapping and Control Module</vt:lpstr>
      <vt:lpstr>pycaw</vt:lpstr>
      <vt:lpstr>PowerPoint Presentation</vt:lpstr>
      <vt:lpstr>Program part </vt:lpstr>
      <vt:lpstr>PowerPoint Presentation</vt:lpstr>
      <vt:lpstr>PowerPoint Presentation</vt:lpstr>
      <vt:lpstr>Ui simple design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Shreyas S n</cp:lastModifiedBy>
  <cp:revision>2</cp:revision>
  <dcterms:modified xsi:type="dcterms:W3CDTF">2025-12-01T15:26:19Z</dcterms:modified>
</cp:coreProperties>
</file>